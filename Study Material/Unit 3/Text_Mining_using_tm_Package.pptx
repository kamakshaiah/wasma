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62771-405A-4960-B16F-20C08D067A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B098E-B2F1-4DC9-9575-2FC4554D9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5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C08BE-34F8-49A1-A055-3596FED330A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1CBD8-8226-4CBB-B094-C011D806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97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1CBD8-8226-4CBB-B094-C011D80692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 Mining using tm Package (R)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Workflow,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Text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 of extracting meaningful information from unstructured text data</a:t>
            </a:r>
          </a:p>
          <a:p>
            <a:r>
              <a:rPr dirty="0"/>
              <a:t>Used in business analytics, social media analysis, research, and decision making</a:t>
            </a:r>
          </a:p>
          <a:p>
            <a:r>
              <a:rPr dirty="0"/>
              <a:t>Involves preprocessing, representation, analysis, and visualization of 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Text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Large volumes of textual data are generated </a:t>
            </a:r>
            <a:r>
              <a:rPr dirty="0" smtClean="0"/>
              <a:t>daily</a:t>
            </a:r>
            <a:r>
              <a:rPr lang="en-US" baseline="30000" dirty="0" smtClean="0"/>
              <a:t>1</a:t>
            </a:r>
            <a:endParaRPr baseline="30000" dirty="0"/>
          </a:p>
          <a:p>
            <a:r>
              <a:rPr dirty="0"/>
              <a:t>Traditional data analysis tools cannot directly handle text</a:t>
            </a:r>
          </a:p>
          <a:p>
            <a:r>
              <a:rPr dirty="0"/>
              <a:t>Text mining converts text into structured and analyzable </a:t>
            </a:r>
            <a:r>
              <a:rPr dirty="0" smtClean="0"/>
              <a:t>form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The global </a:t>
            </a:r>
            <a:r>
              <a:rPr lang="en-US" sz="2100" dirty="0" err="1"/>
              <a:t>datasphere</a:t>
            </a:r>
            <a:r>
              <a:rPr lang="en-US" sz="2100" dirty="0"/>
              <a:t> (all data created, captured, copied &amp; consumed) is estimated to be around </a:t>
            </a:r>
            <a:r>
              <a:rPr lang="en-US" sz="2100" b="1" dirty="0"/>
              <a:t>149–181 zettabytes (ZB) by end of 2025</a:t>
            </a:r>
            <a:r>
              <a:rPr lang="en-US" sz="2100" dirty="0" smtClean="0"/>
              <a:t>. </a:t>
            </a:r>
            <a:r>
              <a:rPr lang="nb-NO" sz="2100" dirty="0"/>
              <a:t>(1 zettabyte = 1 trillion gigabytes) </a:t>
            </a:r>
            <a:endParaRPr lang="nb-NO" sz="2100" dirty="0" smtClean="0"/>
          </a:p>
          <a:p>
            <a:pPr lvl="1"/>
            <a:r>
              <a:rPr lang="en-US" sz="1900" dirty="0"/>
              <a:t>Text is a minority portion of all digital data — far less than media like video</a:t>
            </a:r>
            <a:r>
              <a:rPr lang="en-US" sz="1900" dirty="0" smtClean="0"/>
              <a:t>.</a:t>
            </a:r>
          </a:p>
          <a:p>
            <a:pPr lvl="1"/>
            <a:r>
              <a:rPr lang="en-US" sz="1900" dirty="0"/>
              <a:t>Around </a:t>
            </a:r>
            <a:r>
              <a:rPr lang="en-US" sz="1900" b="1" dirty="0"/>
              <a:t>16–22 billion SMS text messages are sent </a:t>
            </a:r>
            <a:r>
              <a:rPr lang="en-US" sz="1900" b="1" i="1" dirty="0"/>
              <a:t>daily</a:t>
            </a:r>
            <a:r>
              <a:rPr lang="en-US" sz="1900" dirty="0"/>
              <a:t> </a:t>
            </a:r>
            <a:r>
              <a:rPr lang="en-US" sz="1900" dirty="0" smtClean="0"/>
              <a:t>worldwide</a:t>
            </a:r>
          </a:p>
          <a:p>
            <a:pPr lvl="1"/>
            <a:r>
              <a:rPr lang="en-US" sz="1900" dirty="0"/>
              <a:t>n addition, billions of </a:t>
            </a:r>
            <a:r>
              <a:rPr lang="en-US" sz="1900" b="1" dirty="0"/>
              <a:t>emails, chats, social media posts, comments, forum posts, articles, and documents</a:t>
            </a:r>
            <a:r>
              <a:rPr lang="en-US" sz="1900" dirty="0"/>
              <a:t> are created every day — but there’s no single global tally just for text content.</a:t>
            </a:r>
          </a:p>
          <a:p>
            <a:endParaRPr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75733" y="3680176"/>
            <a:ext cx="80151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tm Package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tm</a:t>
            </a:r>
            <a:r>
              <a:rPr dirty="0"/>
              <a:t> stands for Text </a:t>
            </a:r>
            <a:r>
              <a:rPr dirty="0" smtClean="0"/>
              <a:t>Mining</a:t>
            </a:r>
            <a:r>
              <a:rPr lang="en-US" baseline="30000" dirty="0" smtClean="0"/>
              <a:t>1</a:t>
            </a:r>
            <a:endParaRPr baseline="30000" dirty="0"/>
          </a:p>
          <a:p>
            <a:r>
              <a:rPr dirty="0"/>
              <a:t>One of the most widely used R packages for text mining</a:t>
            </a:r>
          </a:p>
          <a:p>
            <a:r>
              <a:rPr dirty="0"/>
              <a:t>Provides a framework for text preprocessing and transformation</a:t>
            </a:r>
          </a:p>
          <a:p>
            <a:r>
              <a:rPr dirty="0"/>
              <a:t>Integrates well </a:t>
            </a:r>
            <a:r>
              <a:rPr dirty="0" smtClean="0"/>
              <a:t>with </a:t>
            </a:r>
            <a:r>
              <a:rPr dirty="0"/>
              <a:t>other R </a:t>
            </a:r>
            <a:r>
              <a:rPr dirty="0" smtClean="0"/>
              <a:t>packages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https://cran.r-project.org/web/packages/tm/vignettes/tm.pdf</a:t>
            </a:r>
            <a:endParaRPr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64444" y="4639733"/>
            <a:ext cx="79360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Mining Workflow in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Text data collection</a:t>
            </a:r>
          </a:p>
          <a:p>
            <a:r>
              <a:rPr dirty="0" smtClean="0"/>
              <a:t>Corpus</a:t>
            </a:r>
            <a:r>
              <a:rPr lang="en-US" baseline="30000" dirty="0" smtClean="0"/>
              <a:t>1</a:t>
            </a:r>
            <a:r>
              <a:rPr dirty="0" smtClean="0"/>
              <a:t> </a:t>
            </a:r>
            <a:r>
              <a:rPr dirty="0"/>
              <a:t>creation</a:t>
            </a:r>
          </a:p>
          <a:p>
            <a:r>
              <a:rPr dirty="0"/>
              <a:t>Text </a:t>
            </a:r>
            <a:r>
              <a:rPr dirty="0" smtClean="0"/>
              <a:t>preprocessing</a:t>
            </a:r>
            <a:r>
              <a:rPr lang="en-US" baseline="30000" dirty="0" smtClean="0"/>
              <a:t>2</a:t>
            </a:r>
            <a:endParaRPr baseline="30000" dirty="0"/>
          </a:p>
          <a:p>
            <a:r>
              <a:rPr dirty="0"/>
              <a:t>Document-Term Matrix (DTM) </a:t>
            </a:r>
            <a:r>
              <a:rPr dirty="0" smtClean="0"/>
              <a:t>creation</a:t>
            </a:r>
            <a:r>
              <a:rPr lang="en-US" baseline="30000" dirty="0" smtClean="0"/>
              <a:t>3</a:t>
            </a:r>
            <a:endParaRPr baseline="30000" dirty="0"/>
          </a:p>
          <a:p>
            <a:r>
              <a:rPr dirty="0"/>
              <a:t>Analysis and </a:t>
            </a:r>
            <a:r>
              <a:rPr dirty="0" smtClean="0"/>
              <a:t>visualization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sz="2400" dirty="0" smtClean="0"/>
              <a:t>A </a:t>
            </a:r>
            <a:r>
              <a:rPr lang="en-US" sz="2400" dirty="0"/>
              <a:t>structured collection of texts used for linguistic, statistical, or computational analysis</a:t>
            </a:r>
            <a:r>
              <a:rPr lang="en-US" sz="2400" dirty="0" smtClean="0"/>
              <a:t>.</a:t>
            </a:r>
          </a:p>
          <a:p>
            <a:pPr marL="514350" indent="-514350">
              <a:buAutoNum type="arabicPeriod"/>
            </a:pPr>
            <a:r>
              <a:rPr lang="en-US" sz="2400" dirty="0"/>
              <a:t>An R object that stores a collection of text documents along with metadata, designed for text preprocessing and analysis</a:t>
            </a:r>
            <a:r>
              <a:rPr lang="en-US" sz="2400" dirty="0" smtClean="0"/>
              <a:t>. </a:t>
            </a:r>
            <a:r>
              <a:rPr lang="en-US" sz="2400" dirty="0"/>
              <a:t>Ex. </a:t>
            </a:r>
            <a:endParaRPr lang="en-US" sz="2400" dirty="0" smtClean="0"/>
          </a:p>
          <a:p>
            <a:pPr marL="1257300" lvl="3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docs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&lt;- c("Text mining is useful", "tm package is powerful")</a:t>
            </a:r>
          </a:p>
          <a:p>
            <a:pPr marL="1257300" lvl="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corpus &lt;-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VCorpus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VectorSource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(docs))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A structured matrix representation of a text corpus where rows correspond to documents, columns correspond to terms (words), and each cell contains the frequency or weight of a term in a document.</a:t>
            </a:r>
          </a:p>
          <a:p>
            <a:pPr marL="514350" indent="-514350">
              <a:buAutoNum type="arabicPeriod"/>
            </a:pPr>
            <a:endParaRPr lang="en-US" dirty="0" smtClean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75734" y="3578578"/>
            <a:ext cx="7676444" cy="112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Corpus is a collection of text documents</a:t>
            </a:r>
          </a:p>
          <a:p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tm</a:t>
            </a:r>
            <a:r>
              <a:rPr dirty="0"/>
              <a:t> supports different corpus types:</a:t>
            </a:r>
          </a:p>
          <a:p>
            <a:pPr lvl="1"/>
            <a:r>
              <a:rPr dirty="0" smtClean="0"/>
              <a:t> </a:t>
            </a:r>
            <a:r>
              <a:rPr dirty="0" err="1"/>
              <a:t>VCorpus</a:t>
            </a:r>
            <a:r>
              <a:rPr dirty="0"/>
              <a:t> – Volatile Corpus (stored in memory)</a:t>
            </a:r>
          </a:p>
          <a:p>
            <a:pPr lvl="1"/>
            <a:r>
              <a:rPr dirty="0" smtClean="0"/>
              <a:t> </a:t>
            </a:r>
            <a:r>
              <a:rPr dirty="0" err="1"/>
              <a:t>PCorpus</a:t>
            </a:r>
            <a:r>
              <a:rPr dirty="0"/>
              <a:t> – Permanent Corpus (stored on disk)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Corpus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library(tm</a:t>
            </a:r>
            <a:r>
              <a:rPr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docs &lt;- c('Text mining is useful', 'tm package in R')</a:t>
            </a:r>
          </a:p>
          <a:p>
            <a:pPr marL="0" indent="0">
              <a:buNone/>
            </a:pP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corpus </a:t>
            </a: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VCorpus</a:t>
            </a: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VectorSource</a:t>
            </a: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(docs))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Text cleaning is a crucial step</a:t>
            </a:r>
          </a:p>
          <a:p>
            <a:r>
              <a:rPr dirty="0"/>
              <a:t>Common preprocessing operations:</a:t>
            </a:r>
          </a:p>
          <a:p>
            <a:pPr lvl="1"/>
            <a:r>
              <a:rPr dirty="0" smtClean="0"/>
              <a:t>Convert </a:t>
            </a:r>
            <a:r>
              <a:rPr dirty="0"/>
              <a:t>to lowercase</a:t>
            </a:r>
          </a:p>
          <a:p>
            <a:pPr lvl="1"/>
            <a:r>
              <a:rPr dirty="0" smtClean="0"/>
              <a:t>Remove </a:t>
            </a:r>
            <a:r>
              <a:rPr dirty="0"/>
              <a:t>punctuation and numbers</a:t>
            </a:r>
          </a:p>
          <a:p>
            <a:pPr lvl="1"/>
            <a:r>
              <a:rPr dirty="0" smtClean="0"/>
              <a:t>Remove </a:t>
            </a:r>
            <a:r>
              <a:rPr dirty="0" err="1"/>
              <a:t>stopwords</a:t>
            </a:r>
            <a:endParaRPr dirty="0"/>
          </a:p>
          <a:p>
            <a:pPr lvl="1"/>
            <a:r>
              <a:rPr dirty="0" smtClean="0"/>
              <a:t>Stemming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Functions in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tm_map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(corpus,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content_transformer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tolower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tm_map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(corpus,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removePunctuation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tm_map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(corpus,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removeNumbers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tm_map</a:t>
            </a:r>
            <a:r>
              <a:rPr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(corpus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removeWords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tm_map</a:t>
            </a:r>
            <a:r>
              <a:rPr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(corpus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stripWhitespace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Document-Term Matrix (DTM)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DTM represents documents as rows and terms as columns</a:t>
            </a:r>
          </a:p>
          <a:p>
            <a:r>
              <a:rPr dirty="0"/>
              <a:t>Cell values indicate term frequency</a:t>
            </a:r>
          </a:p>
          <a:p>
            <a:r>
              <a:rPr dirty="0"/>
              <a:t>Foundation for most text mining analyses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DTM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dtm</a:t>
            </a:r>
            <a:r>
              <a:rPr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DocumentTermMatrix</a:t>
            </a:r>
            <a:r>
              <a:rPr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(corpus)</a:t>
            </a:r>
          </a:p>
          <a:p>
            <a:pPr marL="0" indent="0">
              <a:buNone/>
            </a:pPr>
            <a:r>
              <a:rPr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inspect(</a:t>
            </a:r>
            <a:r>
              <a:rPr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dtm</a:t>
            </a:r>
            <a:r>
              <a:rPr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dirty="0"/>
              <a:t>DTM can be filtered by term frequency or sparsity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 Weighting –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TF-IDF = Term Frequency × Inverse Document Frequency</a:t>
            </a:r>
          </a:p>
          <a:p>
            <a:r>
              <a:rPr dirty="0"/>
              <a:t>Reduces the importance of very common words</a:t>
            </a:r>
          </a:p>
          <a:p>
            <a:r>
              <a:rPr dirty="0"/>
              <a:t>Improves relevance of important terms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Text Analysis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frequent terms</a:t>
            </a:r>
          </a:p>
          <a:p>
            <a:r>
              <a:t>Word associations</a:t>
            </a:r>
          </a:p>
          <a:p>
            <a:r>
              <a:t>Word clouds</a:t>
            </a:r>
          </a:p>
          <a:p>
            <a:r>
              <a:t>Clustering and classification (with other packages)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wordcloud</a:t>
            </a:r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wordcloud</a:t>
            </a:r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(corpus, </a:t>
            </a:r>
            <a:r>
              <a:rPr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min.freq</a:t>
            </a:r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dirty="0"/>
              <a:t>Helps in quick visual interpretation of text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tm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feedback and review analysis</a:t>
            </a:r>
          </a:p>
          <a:p>
            <a:r>
              <a:t>Social media text analysis</a:t>
            </a:r>
          </a:p>
          <a:p>
            <a:r>
              <a:t>Research article and abstract analysis</a:t>
            </a:r>
          </a:p>
          <a:p>
            <a:r>
              <a:t>Business intelligence and decision 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tm</a:t>
            </a:r>
            <a:r>
              <a:rPr dirty="0"/>
              <a:t> package provides a complete text mining framework in R</a:t>
            </a:r>
          </a:p>
          <a:p>
            <a:r>
              <a:rPr dirty="0"/>
              <a:t>Focuses on corpus handling and preprocessing</a:t>
            </a:r>
          </a:p>
          <a:p>
            <a:r>
              <a:rPr dirty="0"/>
              <a:t>Often combined with other packages for advanced analytics</a:t>
            </a:r>
          </a:p>
          <a:p>
            <a:r>
              <a:rPr dirty="0"/>
              <a:t>Essential tool for text-based data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610</Words>
  <Application>Microsoft Office PowerPoint</Application>
  <PresentationFormat>On-screen Show (4:3)</PresentationFormat>
  <Paragraphs>93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Text Mining using tm Package (R)</vt:lpstr>
      <vt:lpstr>What is Text Mining?</vt:lpstr>
      <vt:lpstr>Why Text Mining?</vt:lpstr>
      <vt:lpstr>tm Package – Overview</vt:lpstr>
      <vt:lpstr>Text Mining Workflow in tm</vt:lpstr>
      <vt:lpstr>Corpus Concept</vt:lpstr>
      <vt:lpstr>Creating a Corpus (Example)</vt:lpstr>
      <vt:lpstr>Text Preprocessing</vt:lpstr>
      <vt:lpstr>Preprocessing Functions in tm</vt:lpstr>
      <vt:lpstr>Document-Term Matrix (DTM)</vt:lpstr>
      <vt:lpstr>Creating a DTM</vt:lpstr>
      <vt:lpstr>Term Weighting – TF-IDF</vt:lpstr>
      <vt:lpstr>Basic Text Analysis Outputs</vt:lpstr>
      <vt:lpstr>Visualization Example</vt:lpstr>
      <vt:lpstr>Applications of tm Package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Mining using tm Package (R)</dc:title>
  <dc:subject/>
  <dc:creator/>
  <cp:keywords/>
  <dc:description>generated using python-pptx</dc:description>
  <cp:lastModifiedBy>Kamakshaiah M - 3714</cp:lastModifiedBy>
  <cp:revision>13</cp:revision>
  <dcterms:created xsi:type="dcterms:W3CDTF">2013-01-27T09:14:16Z</dcterms:created>
  <dcterms:modified xsi:type="dcterms:W3CDTF">2026-01-23T06:46:36Z</dcterms:modified>
  <cp:category/>
</cp:coreProperties>
</file>